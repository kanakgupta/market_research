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tandards.ieee.org/ieee/802.15.4/7029/" TargetMode="External"/><Relationship Id="rId3" Type="http://schemas.openxmlformats.org/officeDocument/2006/relationships/hyperlink" Target="https://csa-iot.org/all-solutions/zigbee/" TargetMode="External"/><Relationship Id="rId4" Type="http://schemas.openxmlformats.org/officeDocument/2006/relationships/hyperlink" Target="https://csa-iot.org/developer-resource/specifications-download-request/" TargetMode="External"/><Relationship Id="rId5" Type="http://schemas.openxmlformats.org/officeDocument/2006/relationships/hyperlink" Target="https://www.threadgroup.org/What-is-Thread/Overview" TargetMode="External"/><Relationship Id="rId6" Type="http://schemas.openxmlformats.org/officeDocument/2006/relationships/hyperlink" Target="https://www.threadgroup.org/support#specifications" TargetMode="External"/><Relationship Id="rId7" Type="http://schemas.openxmlformats.org/officeDocument/2006/relationships/hyperlink" Target="https://csa-iot.org/all-solutions/matter/" TargetMode="External"/><Relationship Id="rId8" Type="http://schemas.openxmlformats.org/officeDocument/2006/relationships/hyperlink" Target="https://openthread.io/guides/thread-primer" TargetMode="External"/><Relationship Id="rId9" Type="http://schemas.openxmlformats.org/officeDocument/2006/relationships/hyperlink" Target="https://www.rfc-editor.org/rfc/rfc4944" TargetMode="External"/><Relationship Id="rId10" Type="http://schemas.openxmlformats.org/officeDocument/2006/relationships/hyperlink" Target="https://www.rfc-editor.org/rfc/rfc6282" TargetMode="External"/><Relationship Id="rId11" Type="http://schemas.openxmlformats.org/officeDocument/2006/relationships/hyperlink" Target="https://www.rfc-editor.org/rfc/rfc6550" TargetMode="External"/><Relationship Id="rId12" Type="http://schemas.openxmlformats.org/officeDocument/2006/relationships/hyperlink" Target="https://www.silabs.com/wireless/zigbee" TargetMode="External"/><Relationship Id="rId13" Type="http://schemas.openxmlformats.org/officeDocument/2006/relationships/hyperlink" Target="https://developer.nordicsemi.com/" TargetMode="External"/><Relationship Id="rId14" Type="http://schemas.openxmlformats.org/officeDocument/2006/relationships/hyperlink" Target="https://www.ti.com/wireless-connectivity/thread/overview.html" TargetMode="External"/><Relationship Id="rId15" Type="http://schemas.openxmlformats.org/officeDocument/2006/relationships/hyperlink" Target="https://docs.espressif.com/" TargetMode="External"/><Relationship Id="rId16" Type="http://schemas.openxmlformats.org/officeDocument/2006/relationships/hyperlink" Target="https://en.wikipedia.org/wiki/Zigbee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00584" cy="685800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" y="0"/>
            <a:ext cx="100584" cy="685800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D9CDB"/>
                </a:solidFill>
                <a:latin typeface="Segoe UI"/>
              </a:rPr>
              <a:t>WIRELESS TECHNOLOGY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0704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Segoe UI"/>
              </a:rPr>
              <a:t>IEEE 802.15.4, Zigbee &amp; 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104241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8EEF5"/>
                </a:solidFill>
                <a:latin typeface="Segoe UI"/>
              </a:rPr>
              <a:t>From high-level user concepts to deep protocol internals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B8C4D4"/>
                </a:solidFill>
                <a:latin typeface="Segoe UI"/>
              </a:rPr>
              <a:t>A structured bridge for the Bluetooth engineer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8056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173359"/>
          </a:solidFill>
          <a:ln w="1905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480560"/>
            <a:ext cx="3291840" cy="5080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0916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IEEE 802.15.4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The PHY + MAC foundation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448056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173359"/>
          </a:solidFill>
          <a:ln w="19050">
            <a:solidFill>
              <a:srgbClr val="EB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4480560"/>
            <a:ext cx="3291840" cy="5080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70916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Zigbee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21208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Application-rich mesh stack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448056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173359"/>
          </a:solidFill>
          <a:ln w="19050">
            <a:solidFill>
              <a:srgbClr val="8E4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4480560"/>
            <a:ext cx="3291840" cy="5080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470916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Thread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21208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IPv6 low-power mesh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8C4D4"/>
                </a:solidFill>
                <a:latin typeface="Segoe UI"/>
              </a:rPr>
              <a:t>Learning goal: understand every technical discussion · define products &amp; features · read the 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How to Read This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Structured from user-level down to bit-level — you can stop at any 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2D9CDB"/>
                </a:solidFill>
                <a:latin typeface="Segoe UI"/>
              </a:rPr>
              <a:t>▸ Part 1 — The Landscape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Where these fit in the IoT wireless world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Mental model mapped from your Bluetooth knowledge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0082FC"/>
                </a:solidFill>
                <a:latin typeface="Segoe UI"/>
              </a:rPr>
              <a:t>▸ Part 2 — IEEE 802.15.4 (the foundation)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PHY, MAC, channels, frames, topologies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EB1C24"/>
                </a:solidFill>
                <a:latin typeface="Segoe UI"/>
              </a:rPr>
              <a:t>▸ Part 3 — Zigbee (the application stack)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NWK, APS, ZCL/ZDO, clusters, security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8E44C4"/>
                </a:solidFill>
                <a:latin typeface="Segoe UI"/>
              </a:rPr>
              <a:t>▸ Part 4 — Thread (the IP stack)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6LoWPAN, IPv6, roles, commissioning, security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27AE60"/>
                </a:solidFill>
                <a:latin typeface="Segoe UI"/>
              </a:rPr>
              <a:t>▸ Part 5 — Compare · Matter · Products · Future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212080" cy="461772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D9CDB"/>
                </a:solidFill>
                <a:latin typeface="Segoe UI"/>
              </a:rPr>
              <a:t>The one-sentence mental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488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802.15.4 = the radio + link layer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Like BT's PHY + Link Layer. It moves frames; it does not define apps.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Zigbee = full stack ON TOP of 802.15.4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Adds mesh routing + a rich application language (clusters).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Thread = IPv6 stack ON TOP of 802.15.4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Adds 6LoWPAN + IPv6/UDP mesh. App layer is separate (e.g. Matter).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F2A62E"/>
                </a:solidFill>
                <a:latin typeface="Segoe UI"/>
              </a:rPr>
              <a:t>▸ Matter = common app layer over Thread/Wi-Fi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The IoT Wireless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Every technology trades range, data rate, power and topology differently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258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1737360"/>
                <a:gridCol w="1371600"/>
                <a:gridCol w="164592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Band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Raw rate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Range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Topology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Sweet spot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Bluetooth LE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2.4 GHz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1–2 Mbps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10–100 m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Star / Mesh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Phone-centric, audio, wearables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802.15.4 / Zigbee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2.4 GHz / sub-GHz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250 kbps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10–100 m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Mesh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Home/building sensor &amp; control mesh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Thread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2.4 GHz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250 kbps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10–100 m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IPv6 Mesh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IP-native smart home (Matter)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Wi-Fi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2.4/5/6 GHz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10 Mbps–Gbps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20–50 m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Star (AP)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High-bandwidth, mains-powered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LoRaWAN / NB-IoT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sub-GHz / cellular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0.3–50 kbps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km scale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Star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Long-range, tiny payloads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2A62E"/>
                </a:solidFill>
                <a:latin typeface="Segoe UI"/>
              </a:rPr>
              <a:t>Key insight: 802.15.4 / Zigbee / Thread live in the SAME 2.4 GHz neighbourhood as Bluetooth and Wi-Fi, but are engineered for many low-power nodes forming self-healing MESH networks — not for streaming.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Bridge From What You Know: Bluetooth ↔ These Stacks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Same OSI ideas, different names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471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926080"/>
                <a:gridCol w="3017520"/>
              </a:tblGrid>
              <a:tr h="624839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OSI-ish layer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Bluetooth LE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Zigbee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Thread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Application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GATT profiles / services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Zigbee Cluster Library (ZCL)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Matter / CoAP / app of choice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App support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ATT / GATT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APS (App Support Sublayer)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UDP + DTLS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Network / routing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L2CAP + BT Mesh (opt.)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Zigbee NWK (mesh routing)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IPv6 + 6LoWPAN + MLE routing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Link / MAC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Link Layer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IEEE 802.15.4 MAC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IEEE 802.15.4 MAC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Physical (radio)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BLE PHY (GFSK 2.4 GHz)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IEEE 802.15.4 PHY (O-QPSK)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5"/>
                          </a:solidFill>
                          <a:latin typeface="Segoe UI"/>
                        </a:rPr>
                        <a:t>IEEE 802.15.4 PHY (O-QPSK)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2A62E"/>
                </a:solidFill>
                <a:latin typeface="Segoe UI"/>
              </a:rPr>
              <a:t>Takeaway: Zigbee and Thread SHARE the bottom two layers (802.15.4 PHY+MAC). They diverge above the MAC — Zigbee builds its own network+app world; Thread runs standard IPv6.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0082FC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6070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IEEE 802.15.4 — The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8EEF5"/>
                </a:solidFill>
                <a:latin typeface="Segoe UI"/>
              </a:rPr>
              <a:t>The PHY and MAC that both Zigbee and Thread stand 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What IEEE 802.15.4 Actually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A standard for Low-Rate Wireless Personal Area Networks (LR-WPAN)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Defines ONLY the two lowest layers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PHY (physical radio) and MAC (medium access control)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Deliberately stops there — upper stacks (Zigbee, Thread, WirelessHART, ISA100, Matter-over-Thread) build on top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Design goals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Ultra low power (coin-cell, years of life)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Low cost, low complexity silicon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Robust in noisy 2.4 GHz environments</a:t>
            </a:r>
          </a:p>
          <a:p>
            <a:pPr lvl="1">
              <a:lnSpc>
                <a:spcPct val="105000"/>
              </a:lnSpc>
              <a:spcAft>
                <a:spcPts val="7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Support many nodes &amp; mesh-friendly links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0">
                <a:solidFill>
                  <a:srgbClr val="B8C4D4"/>
                </a:solidFill>
                <a:latin typeface="Segoe UI"/>
              </a:rPr>
              <a:t>▸ First published 2003; revised 2006, 2011, 2015, 2020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212080" cy="461772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554480"/>
            <a:ext cx="4754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82FC"/>
                </a:solidFill>
                <a:latin typeface="Segoe UI"/>
              </a:rPr>
              <a:t>Analogy for a BT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488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▸ 802.15.4 ≈ the BLE Controller (PHY + Link Layer).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▸ It gives you: channels, modulation, framing, addressing, CSMA-CA, ACKs, and a MAC state machine.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E8EEF5"/>
                </a:solidFill>
                <a:latin typeface="Segoe UI"/>
              </a:rPr>
              <a:t>▸ It does NOT give you: routing, services, security keys management, or apps.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F2A62E"/>
                </a:solidFill>
                <a:latin typeface="Segoe UI"/>
              </a:rPr>
              <a:t>▸ That gap is exactly why Zigbee and Thread exist.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802.15.4 PHY — The Radio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Bands, channels and modulation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▸ Three main band options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• 2.4 GHz ISM — global, 16 channels, 250 kbps (most common)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• 915 MHz (Americas) — 10 channels, 40 kbps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• 868 MHz (Europe) — 1 channel, 20 kbps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▸ 2.4 GHz PHY details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• Channels 11–26, spaced 5 MHz apart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• Modulation: O-QPSK with DSSS (spreading) — robust vs interference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• Chip rate 2 Mchip/s → 250 kbps effective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B8C4D4"/>
                </a:solidFill>
                <a:latin typeface="Segoe UI"/>
              </a:rPr>
              <a:t>▸ Transmit power typically 0 dBm (1 mW); range ~10–100 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F2A62E"/>
                </a:solidFill>
                <a:latin typeface="Segoe UI"/>
              </a:rPr>
              <a:t>▸ Coexists with Wi-Fi — channels 15, 20, 25, 26 dodge common Wi-Fi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82FC"/>
                </a:solidFill>
                <a:latin typeface="Segoe UI"/>
              </a:rPr>
              <a:t>2.4 GHz channel map (11–26)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0296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8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2904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62088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72983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5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1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94776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17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05672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87384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18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16568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19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27464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09176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20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60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20072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21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49256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30968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22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60152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41864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23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671048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52760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24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81944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63656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25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92840" y="2057400"/>
            <a:ext cx="256032" cy="9144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74552" y="3017520"/>
            <a:ext cx="310896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B8C4D4"/>
                </a:solidFill>
                <a:latin typeface="Segoe UI"/>
              </a:rPr>
              <a:t>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310128"/>
            <a:ext cx="48463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Green = quieter vs typical Wi-Fi ch 1/6/11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3840480"/>
            <a:ext cx="5212080" cy="214884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3950208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82FC"/>
                </a:solidFill>
                <a:latin typeface="Segoe UI"/>
              </a:rPr>
              <a:t>vs Bluetooth PHY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34340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▸ BLE: 40 ch × 2 MHz, GFSK, adaptive frequency hopping.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▸ 802.15.4: 16 ch × 5 MHz, O-QPSK/DSSS, NO hopping — picks one channel and stays (spreading gives robustness).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802.15.4 MAC — Medium Access &amp;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How nodes share the air and build links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Channel access: CSMA-CA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Listen-before-talk; random backoff to avoid collisions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Optional slotted mode with superframe + beacons (GTS for QoS)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Four MAC frame types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Beacon — network timing / presence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Data — carries the payload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Acknowledgment — reliable delivery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MAC command — association, disassociation, etc.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Addressing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64-bit extended (EUI-64, globally unique) OR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16-bit short address (assigned on join, saves space)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16-bit PAN ID identifies the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212080" cy="233172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81328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82FC"/>
                </a:solidFill>
                <a:latin typeface="Segoe UI"/>
              </a:rPr>
              <a:t>MAC frame anatomy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9659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MHR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9659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148840"/>
            <a:ext cx="914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Frame
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965960"/>
            <a:ext cx="640080" cy="914400"/>
          </a:xfrm>
          <a:prstGeom prst="roundRect">
            <a:avLst>
              <a:gd name="adj" fmla="val 6000"/>
            </a:avLst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148840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Seq#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965960"/>
            <a:ext cx="1005840" cy="914400"/>
          </a:xfrm>
          <a:prstGeom prst="roundRect">
            <a:avLst>
              <a:gd name="adj" fmla="val 6000"/>
            </a:avLst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148840"/>
            <a:ext cx="1005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Addr
fields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96596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148840"/>
            <a:ext cx="1280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Payload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67160" y="1965960"/>
            <a:ext cx="640080" cy="9144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67160" y="2148840"/>
            <a:ext cx="6400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FCS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06324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2A62E"/>
                </a:solidFill>
                <a:latin typeface="Segoe UI"/>
              </a:rPr>
              <a:t>Max PHY payload 127 bytes → tight! Drives header compression in Thread (6LoWPAN).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86200"/>
            <a:ext cx="5212080" cy="210312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995928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82FC"/>
                </a:solidFill>
                <a:latin typeface="Segoe UI"/>
              </a:rPr>
              <a:t>Device types (MAC level)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▸ FFD — Full-Function Device: can route, be coordinator.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▸ RFD — Reduced-Function Device: leaf/end node, sleepy, talks only to its parent.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802.15.4 RF + Link Layer Capability Deep 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The details that drive real product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RF capabilities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Energy Detect (ED) for channel surveys and adaptive channel planning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CCA modes (energy, carrier, carrier+energy) feed CSMA-CA decisions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DSSS processing gain improves resilience in noisy ISM environments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MAC capabilities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Unslotted/slotted CSMA-CA with tunable BE/backoff/retry parameters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ACK request + retry limit settings shape reliability vs latency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Indirect data + frame-pending bit enables sleepy battery children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Beacon superframe with optional GTS enables deterministic windows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Security at link layer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AES-128-CCM* with frame counters and MIC for replay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371600"/>
            <a:ext cx="5120640" cy="461772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8132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82FC"/>
                </a:solidFill>
                <a:latin typeface="Segoe UI"/>
              </a:rPr>
              <a:t>Deployment tuning playbook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Channel plan first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Avoid Wi-Fi overlap; prioritize ch 15/20/25/26 when practical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Budget airtime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Keep payloads compact; 127-byte PHY frame cap is absolute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Tune MAC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Raise retries for reliability; lower retries for latency-sensitive control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Tune child poll intervals to trade battery life vs downlink responsiveness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2A62E"/>
                </a:solidFill>
                <a:latin typeface="Segoe UI"/>
              </a:rPr>
              <a:t>▸ Design for coexistence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Measure ED/CCA fail rate + retry counters during field trials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802.15.4 Topologies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From simple star to self-healing 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71600"/>
            <a:ext cx="3474720" cy="329184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82FC"/>
                </a:solidFill>
                <a:latin typeface="Segoe UI"/>
              </a:rPr>
              <a:t>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8EEF5"/>
                </a:solidFill>
                <a:latin typeface="Segoe UI"/>
              </a:rPr>
              <a:t>One coordinator, all nodes talk to it. Simple, single point of failure.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371600"/>
            <a:ext cx="3474720" cy="329184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46304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82FC"/>
                </a:solidFill>
                <a:latin typeface="Segoe UI"/>
              </a:rPr>
              <a:t>Cluster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79476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8EEF5"/>
                </a:solidFill>
                <a:latin typeface="Segoe UI"/>
              </a:rPr>
              <a:t>Coordinator + routers form a tree; extends range hop-by-hop.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371600"/>
            <a:ext cx="3474720" cy="329184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146304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82FC"/>
                </a:solidFill>
                <a:latin typeface="Segoe UI"/>
              </a:rPr>
              <a:t>Mesh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79476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8EEF5"/>
                </a:solidFill>
                <a:latin typeface="Segoe UI"/>
              </a:rPr>
              <a:t>Routers interconnect; multiple paths → self-healing &amp; resilient.</a:t>
            </a:r>
          </a:p>
        </p:txBody>
      </p:sp>
      <p:sp>
        <p:nvSpPr>
          <p:cNvPr id="20" name="Oval 19"/>
          <p:cNvSpPr/>
          <p:nvPr/>
        </p:nvSpPr>
        <p:spPr>
          <a:xfrm>
            <a:off x="2084831" y="2450591"/>
            <a:ext cx="402336" cy="402336"/>
          </a:xfrm>
          <a:prstGeom prst="ellipse">
            <a:avLst/>
          </a:prstGeom>
          <a:solidFill>
            <a:srgbClr val="F2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" y="2084831"/>
            <a:ext cx="402336" cy="402336"/>
          </a:xfrm>
          <a:prstGeom prst="ellipse">
            <a:avLst/>
          </a:prstGeom>
          <a:solidFill>
            <a:srgbClr val="00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1188720" y="2286000"/>
            <a:ext cx="1097280" cy="36576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182112" y="2084831"/>
            <a:ext cx="402336" cy="402336"/>
          </a:xfrm>
          <a:prstGeom prst="ellipse">
            <a:avLst/>
          </a:prstGeom>
          <a:solidFill>
            <a:srgbClr val="00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2286000" y="2286000"/>
            <a:ext cx="1097280" cy="36576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87552" y="2999232"/>
            <a:ext cx="402336" cy="402336"/>
          </a:xfrm>
          <a:prstGeom prst="ellipse">
            <a:avLst/>
          </a:prstGeom>
          <a:solidFill>
            <a:srgbClr val="00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>
            <a:off x="1188720" y="2651760"/>
            <a:ext cx="1097280" cy="54864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182112" y="2999232"/>
            <a:ext cx="402336" cy="402336"/>
          </a:xfrm>
          <a:prstGeom prst="ellipse">
            <a:avLst/>
          </a:prstGeom>
          <a:solidFill>
            <a:srgbClr val="00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2286000" y="2651760"/>
            <a:ext cx="1097280" cy="54864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084831" y="3273551"/>
            <a:ext cx="402336" cy="402336"/>
          </a:xfrm>
          <a:prstGeom prst="ellipse">
            <a:avLst/>
          </a:prstGeom>
          <a:solidFill>
            <a:srgbClr val="00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2286000" y="2651760"/>
            <a:ext cx="0" cy="82296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016752" y="1810512"/>
            <a:ext cx="402336" cy="402336"/>
          </a:xfrm>
          <a:prstGeom prst="ellipse">
            <a:avLst/>
          </a:prstGeom>
          <a:solidFill>
            <a:srgbClr val="F2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10912" y="2542032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22592" y="2542032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5212080" y="2011680"/>
            <a:ext cx="1005840" cy="73152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17920" y="2011680"/>
            <a:ext cx="1005840" cy="73152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553712" y="3273551"/>
            <a:ext cx="402336" cy="402336"/>
          </a:xfrm>
          <a:prstGeom prst="ellipse">
            <a:avLst/>
          </a:prstGeom>
          <a:solidFill>
            <a:srgbClr val="00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68112" y="3273551"/>
            <a:ext cx="402336" cy="402336"/>
          </a:xfrm>
          <a:prstGeom prst="ellipse">
            <a:avLst/>
          </a:prstGeom>
          <a:solidFill>
            <a:srgbClr val="00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H="1">
            <a:off x="4754880" y="2743200"/>
            <a:ext cx="457200" cy="73152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212080" y="2743200"/>
            <a:ext cx="457200" cy="73152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656832" y="3273551"/>
            <a:ext cx="402336" cy="402336"/>
          </a:xfrm>
          <a:prstGeom prst="ellipse">
            <a:avLst/>
          </a:prstGeom>
          <a:solidFill>
            <a:srgbClr val="00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79792" y="3273551"/>
            <a:ext cx="402336" cy="402336"/>
          </a:xfrm>
          <a:prstGeom prst="ellipse">
            <a:avLst/>
          </a:prstGeom>
          <a:solidFill>
            <a:srgbClr val="00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H="1">
            <a:off x="6858000" y="2743200"/>
            <a:ext cx="365760" cy="73152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23760" y="2743200"/>
            <a:ext cx="457200" cy="73152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9125711" y="1901951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71632" y="1901951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942832" y="2907791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54511" y="2907791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948672" y="2450591"/>
            <a:ext cx="402336" cy="402336"/>
          </a:xfrm>
          <a:prstGeom prst="ellipse">
            <a:avLst/>
          </a:prstGeom>
          <a:solidFill>
            <a:srgbClr val="F2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9326880" y="2103120"/>
            <a:ext cx="1645920" cy="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9144000" y="2103120"/>
            <a:ext cx="182880" cy="100584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326880" y="2103120"/>
            <a:ext cx="1828800" cy="100584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326880" y="2103120"/>
            <a:ext cx="822960" cy="54864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9144000" y="2103120"/>
            <a:ext cx="1828800" cy="100584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972800" y="2103120"/>
            <a:ext cx="182880" cy="100584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0149840" y="2103120"/>
            <a:ext cx="822960" cy="54864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144000" y="3108960"/>
            <a:ext cx="2011680" cy="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144000" y="2651760"/>
            <a:ext cx="1005840" cy="45720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10149840" y="2651760"/>
            <a:ext cx="1005840" cy="457200"/>
          </a:xfrm>
          <a:prstGeom prst="bentConnector3">
            <a:avLst/>
          </a:prstGeom>
          <a:ln w="19050">
            <a:solidFill>
              <a:srgbClr val="B8C4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48640" y="4937760"/>
            <a:ext cx="112471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2A62E"/>
                </a:solidFill>
                <a:latin typeface="Segoe UI"/>
              </a:rPr>
              <a:t>Zigbee and Thread both use MESH. Mains-powered routers relay for battery 'end devices' that sleep. Add a device → the mesh grows and finds new paths automatically; remove one → traffic reroutes.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EB1C24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6070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Zigbee — The Application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8EEF5"/>
                </a:solidFill>
                <a:latin typeface="Segoe UI"/>
              </a:rPr>
              <a:t>Mesh routing + a rich, interoperable device language on top of 802.15.4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The Zigbee Stack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Everything above the 802.15.4 MAC is 'Zigbee'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71600"/>
            <a:ext cx="6035040" cy="566928"/>
          </a:xfrm>
          <a:prstGeom prst="roundRect">
            <a:avLst>
              <a:gd name="adj" fmla="val 5000"/>
            </a:avLst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72184"/>
            <a:ext cx="58064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Application layer — your device logic + ZCL clusters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57400"/>
            <a:ext cx="6035040" cy="566928"/>
          </a:xfrm>
          <a:prstGeom prst="roundRect">
            <a:avLst>
              <a:gd name="adj" fmla="val 5000"/>
            </a:avLst>
          </a:prstGeom>
          <a:solidFill>
            <a:srgbClr val="B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57984"/>
            <a:ext cx="58064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APS — Application Support Sublayer (binding, endpoints, groups)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43200"/>
            <a:ext cx="6035040" cy="566928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43784"/>
            <a:ext cx="58064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ZDO — Zigbee Device Object (discovery, roles, network mgmt)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6035040" cy="566928"/>
          </a:xfrm>
          <a:prstGeom prst="roundRect">
            <a:avLst>
              <a:gd name="adj" fmla="val 5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29584"/>
            <a:ext cx="58064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NWK — Network layer (mesh routing, addressing, security)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6035040" cy="566928"/>
          </a:xfrm>
          <a:prstGeom prst="roundRect">
            <a:avLst>
              <a:gd name="adj" fmla="val 5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15384"/>
            <a:ext cx="58064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IEEE 802.15.4 MAC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6035040" cy="566928"/>
          </a:xfrm>
          <a:prstGeom prst="roundRect">
            <a:avLst>
              <a:gd name="adj" fmla="val 5000"/>
            </a:avLst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01184"/>
            <a:ext cx="580644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IEEE 802.15.4 PHY (2.4 GHz / sub-GHz radio)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6126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8C4D4"/>
                </a:solidFill>
                <a:latin typeface="Segoe UI"/>
              </a:rPr>
              <a:t>Zigbee = NWK + APS + ZDO + ZCL, standardized by the Connectivity Standards Alliance (CSA).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1371600"/>
            <a:ext cx="4663440" cy="461772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EB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150876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1C24"/>
                </a:solidFill>
                <a:latin typeface="Segoe UI"/>
              </a:rPr>
              <a:t>What each layer buys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011680"/>
            <a:ext cx="4343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NWK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Mesh routing (AODV-style), 16-bit addresses, network key security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APS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Endpoints, bindings, groups; reliable end-to-end delivery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ZDO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Device &amp; service discovery, join/leave, role management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ZCL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The shared 'vocabulary' of attributes &amp; commands that makes brands interoperate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Zigbee Device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Three roles define the 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7160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9050">
            <a:solidFill>
              <a:srgbClr val="EB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371600"/>
            <a:ext cx="3611880" cy="6350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B1C24"/>
                </a:solidFill>
                <a:latin typeface="Segoe UI"/>
              </a:rPr>
              <a:t>Coordinator (ZC)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4884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Exactly ONE per network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Forms the network, picks channel + PAN ID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Holds trust-center security role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Always powered; often the hub/gateway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37160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905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371600"/>
            <a:ext cx="3611880" cy="635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5544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D9CDB"/>
                </a:solidFill>
                <a:latin typeface="Segoe UI"/>
              </a:rPr>
              <a:t>Router (ZR)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14884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Mains-powered, always on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Relays packets → extends the mesh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Can host application endpoints too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e.g. smart bulbs, plugs act as routers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611880" cy="402336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905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611880" cy="6350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5544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082FC"/>
                </a:solidFill>
                <a:latin typeface="Segoe UI"/>
              </a:rPr>
              <a:t>End Device (ZED)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4884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Battery-powered, sleepy (RFD)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Talks only to ONE parent router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Cannot relay for others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0">
                <a:solidFill>
                  <a:srgbClr val="E8EEF5"/>
                </a:solidFill>
                <a:latin typeface="Segoe UI"/>
              </a:rPr>
              <a:t>▸ e.g. door sensor, remote, thermostat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23560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2A62E"/>
                </a:solidFill>
                <a:latin typeface="Segoe UI"/>
              </a:rPr>
              <a:t>Mental check: a smart bulb is a Router (always powered, extends mesh); a battery PIR sensor is an End Device (sleeps to save power). More mains-powered devices = stronger mesh.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Zigbee Application Model: Endpoints, Clusters, Attributes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The part that defines PRODUCTS and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Node → Endpoints (1–240)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One physical device can expose many endpoints (e.g. a 2-gang switch = 2 endpoints)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Endpoint → Clusters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A cluster = a feature module (On/Off, Level, Color Control, Temperature Measurement…)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Server side hosts attributes; Client side controls them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Cluster → Attributes + Commands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Attribute = a state value (e.g. CurrentLevel = 0–254)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Command = an action (e.g. Move to Level, Toggle)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Binding &amp; Groups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Binding links a switch's client cluster to a bulb's server cluster — direct control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Groups = one command to many devices (whole-room off)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371600"/>
            <a:ext cx="5120640" cy="461772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EB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8132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B1C24"/>
                </a:solidFill>
                <a:latin typeface="Segoe UI"/>
              </a:rPr>
              <a:t>Worked example: a smart dimmer bulb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Endpoint 1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On/Off cluster → attribute OnOff, cmd Toggle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Level Control → attr CurrentLevel, cmd Move to Level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Color Control → attrs Hue/Saturation/ColorTemp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Identify, Basic, Groups, Scenes clusters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2A62E"/>
                </a:solidFill>
                <a:latin typeface="Segoe UI"/>
              </a:rPr>
              <a:t>▸ Because clusters are standardized…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A Philips Hue switch can drive an IKEA bulb — same On/Off &amp; Level cluster semantics. THIS is interoperability.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Zigbee Networking &amp;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How a packet crosses the mesh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Addressing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64-bit IEEE address (permanent) + 16-bit NWK short address (assigned at join)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Mesh routing (AODV-derived)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Route discovery floods a Route Request; best path replies with Route Reply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Routers keep a routing table + route to next hop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Many-to-one routing optimizes 'everyone → gateway' traffic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Reliability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MAC ACK per hop + optional APS ACK end-to-end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Joining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Permit-join window; device associates to a parent, gets keys &amp; short address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63040"/>
            <a:ext cx="5120640" cy="310896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EB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7276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B1C24"/>
                </a:solidFill>
                <a:latin typeface="Segoe UI"/>
              </a:rPr>
              <a:t>Multi-hop delivery</a:t>
            </a:r>
          </a:p>
        </p:txBody>
      </p:sp>
      <p:sp>
        <p:nvSpPr>
          <p:cNvPr id="14" name="Oval 13"/>
          <p:cNvSpPr/>
          <p:nvPr/>
        </p:nvSpPr>
        <p:spPr>
          <a:xfrm>
            <a:off x="6839712" y="2542032"/>
            <a:ext cx="402336" cy="402336"/>
          </a:xfrm>
          <a:prstGeom prst="ellipse">
            <a:avLst/>
          </a:prstGeom>
          <a:solidFill>
            <a:srgbClr val="00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19871" y="2084831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00032" y="2816351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80192" y="2267712"/>
            <a:ext cx="402336" cy="402336"/>
          </a:xfrm>
          <a:prstGeom prst="ellipse">
            <a:avLst/>
          </a:prstGeom>
          <a:solidFill>
            <a:srgbClr val="F2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7040880" y="2286000"/>
            <a:ext cx="1280160" cy="457200"/>
          </a:xfrm>
          <a:prstGeom prst="bentConnector3">
            <a:avLst/>
          </a:prstGeom>
          <a:ln w="19050">
            <a:solidFill>
              <a:srgbClr val="EB1C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21040" y="2286000"/>
            <a:ext cx="1280160" cy="731520"/>
          </a:xfrm>
          <a:prstGeom prst="bentConnector3">
            <a:avLst/>
          </a:prstGeom>
          <a:ln w="19050">
            <a:solidFill>
              <a:srgbClr val="EB1C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601200" y="2468880"/>
            <a:ext cx="1280160" cy="548640"/>
          </a:xfrm>
          <a:prstGeom prst="bentConnector3">
            <a:avLst/>
          </a:prstGeom>
          <a:ln w="19050">
            <a:solidFill>
              <a:srgbClr val="EB1C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66560" y="2971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Sensor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874519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24612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205740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Gateway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840480"/>
            <a:ext cx="47548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8EEF5"/>
                </a:solidFill>
                <a:latin typeface="Segoe UI"/>
              </a:rPr>
              <a:t>Each hop: CSMA-CA + MAC ACK. Battery sensor sleeps; its parent buffers messages until it polls.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46320"/>
            <a:ext cx="51206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2A62E"/>
                </a:solidFill>
                <a:latin typeface="Segoe UI"/>
              </a:rPr>
              <a:t>Note: classic Zigbee needs a HUB/gateway to bridge to IP/cloud. This is a key contrast with Thread.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Zigbee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AES-128 everywhere, managed by a Trust Center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Cryptography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AES-128-CCM* provides encryption + integrity (MIC) at NWK and APS layers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Key hierarchy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Network key — shared by all nodes; secures mesh-wide traffic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Link key — pairwise between two devices; secures APS end-to-end and key transport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Trust Center Link Key — used when joining to receive the network key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Trust Center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Usually the Coordinator; authorizes joins and distributes/rotates keys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Zigbee 3.0 hardened onboarding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Install codes (per-device pre-shared secret) → unique link key, no well-known default key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Unified profile: one interoperable Zigbee 3.0 replaces old Home Automation / Light Link profiles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F2A62E"/>
                </a:solidFill>
                <a:latin typeface="Segoe UI"/>
              </a:rPr>
              <a:t>▸ Historical weak spot: legacy devices used a well-known default Trust Center key — Zigbee 3.0 install codes fix this.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EB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Zigbee Capability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What Zigbee gives you beyond raw connectivity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Application capabilities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Standard ZCL clusters for lighting, metering, HVAC, occupancy and security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Groups + Scenes for low-latency room-wide automation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Network capabilities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Self-healing mesh routing with route discovery and repair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Many-to-one optimization for 'all nodes to gateway' telemetry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Operational capabilities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Strong battery model: sleepy end devices + parent buffering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Mature certification and massive installed base ecosystem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Integration capabilities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Bridge into IP/Matter ecosystems via hub/gateway translation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371600"/>
            <a:ext cx="5120640" cy="461772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EB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8132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B1C24"/>
                </a:solidFill>
                <a:latin typeface="Segoe UI"/>
              </a:rPr>
              <a:t>Product-fit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Best fit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Lighting/sensor/control networks with high device count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Cost-sensitive products needing proven module ecosystem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Watch-outs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Gateway architecture quality decides UX and cloud latency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Channel planning and router density decide mesh stability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2A62E"/>
                </a:solidFill>
                <a:latin typeface="Segoe UI"/>
              </a:rPr>
              <a:t>▸ Forward strategy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Ship Zigbee now, expose to Matter through bridges, keep migration path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8E44C4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6070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Thread — The IPv6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8EEF5"/>
                </a:solidFill>
                <a:latin typeface="Segoe UI"/>
              </a:rPr>
              <a:t>Standard Internet Protocol, down to the tiny sensor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What Makes Thread Different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It is IP — every node has an IPv6 address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Same radio &amp; MAC as Zigbee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IEEE 802.15.4 (2.4 GHz, 250 kbps, mesh)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But the network layer is native IPv6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6LoWPAN compresses IPv6 to fit 127-byte frames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UDP transport; CoAP/DTLS for messaging + security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No application layer of its own → app is separate (Matter)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▸ Designed by Thread Group (Nest/Google origin, 2014)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8E44C4"/>
                </a:solidFill>
                <a:latin typeface="Segoe UI"/>
              </a:rPr>
              <a:t>▸ Key benefits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No single hub bottleneck — self-healing, no single point of failure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Border Router bridges Thread ↔ Wi-Fi/Ethernet at the IP level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5"/>
                </a:solidFill>
                <a:latin typeface="Segoe UI"/>
              </a:rPr>
              <a:t>• End-to-end IP means cloud/app can address a bulb directly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212080" cy="461772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8E4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81328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E44C4"/>
                </a:solidFill>
                <a:latin typeface="Segoe UI"/>
              </a:rPr>
              <a:t>Thread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1965960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075688"/>
            <a:ext cx="4526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Application (Matter, CoAP…)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606039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6C2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715768"/>
            <a:ext cx="4526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UDP + DTLS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3246120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355848"/>
            <a:ext cx="4526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IPv6 + routing (MLE, RPL-like)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886200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995928"/>
            <a:ext cx="4526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6LoWPAN adaptation (compression)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4526280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636008"/>
            <a:ext cx="4526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IEEE 802.15.4 MAC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5166360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76088"/>
            <a:ext cx="4526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IEEE 802.15.4 PHY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Thread Device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Roles are dynamic — the mesh self-organizes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2761488" cy="411480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7780">
            <a:solidFill>
              <a:srgbClr val="8E4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2761488" cy="6350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36192"/>
            <a:ext cx="25146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8E44C4"/>
                </a:solidFill>
                <a:latin typeface="Segoe UI"/>
              </a:rPr>
              <a:t>Border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2514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Bridges Thread ↔ Wi-Fi/Ethernet (IP)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Can have MANY per network (redundant)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e.g. HomePod mini, Nest Hub, Eero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1371600"/>
            <a:ext cx="2761488" cy="411480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7780">
            <a:solidFill>
              <a:srgbClr val="6C2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10712" y="1371600"/>
            <a:ext cx="2761488" cy="63500"/>
          </a:xfrm>
          <a:prstGeom prst="rect">
            <a:avLst/>
          </a:prstGeom>
          <a:solidFill>
            <a:srgbClr val="6C2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1536192"/>
            <a:ext cx="25146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6C2E9C"/>
                </a:solidFill>
                <a:latin typeface="Segoe UI"/>
              </a:rPr>
              <a:t>Leader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286000"/>
            <a:ext cx="2514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One elected router that manages the mesh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Assigns router IDs, holds network data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If it fails, another is auto-elected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371600"/>
            <a:ext cx="2761488" cy="411480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8504" y="1371600"/>
            <a:ext cx="2761488" cy="635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1536192"/>
            <a:ext cx="25146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D9CDB"/>
                </a:solidFill>
                <a:latin typeface="Segoe UI"/>
              </a:rPr>
              <a:t>Router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286000"/>
            <a:ext cx="2514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Forwards packets, always on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Keeps mesh connectivity &amp; routes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REED can promote to Router as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26296" y="1371600"/>
            <a:ext cx="2761488" cy="411480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7780">
            <a:solidFill>
              <a:srgbClr val="0082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26296" y="1371600"/>
            <a:ext cx="2761488" cy="63500"/>
          </a:xfrm>
          <a:prstGeom prst="rect">
            <a:avLst/>
          </a:prstGeom>
          <a:solidFill>
            <a:srgbClr val="008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6" y="1536192"/>
            <a:ext cx="251460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082FC"/>
                </a:solidFill>
                <a:latin typeface="Segoe UI"/>
              </a:rPr>
              <a:t>End Device (MED/SED)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2286000"/>
            <a:ext cx="2514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Minimal/Sleepy End Device (battery)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Talks to a parent router only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▸ Sleeps for years on a coin cell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69280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2A62E"/>
                </a:solidFill>
                <a:latin typeface="Segoe UI"/>
              </a:rPr>
              <a:t>Self-healing in action: lose the Leader → re-election; lose a Border Router → another takes over; no manual reconfiguration. Roles (Leader/Router/REED) shift automatically as devices come and go.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Thread: Networking &amp; Commissioning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How a device joins and how packets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Addressing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Every node gets IPv6 addresses (link-local + mesh-local + optional global)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RLOC (Routing Locator) encodes position in the mesh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Routing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Routers exchange MLE (Mesh Link Establishment) to maintain link quality &amp; routes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Distance-vector routing among routers; end devices via their parent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Commissioning (secure onboarding)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New 'Joiner' + 'Commissioner' (phone/app) authenticate via a PSKd/passphrase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DTLS handshake (J-PAKE) → device receives network credentials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Matter uses a QR/setup code that carries the onboarding secret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0">
                <a:solidFill>
                  <a:srgbClr val="8E44C4"/>
                </a:solidFill>
                <a:latin typeface="Segoe UI"/>
              </a:rPr>
              <a:t>▸ Multicast &amp; service discovery via IPv6 — no proprietary binding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1732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8E4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2704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E44C4"/>
                </a:solidFill>
                <a:latin typeface="Segoe UI"/>
              </a:rPr>
              <a:t>Border Router: the key idea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011680"/>
            <a:ext cx="1371600" cy="640080"/>
          </a:xfrm>
          <a:prstGeom prst="roundRect">
            <a:avLst>
              <a:gd name="adj" fmla="val 20000"/>
            </a:avLst>
          </a:prstGeom>
          <a:solidFill>
            <a:srgbClr val="133055"/>
          </a:solidFill>
          <a:ln w="12700">
            <a:solidFill>
              <a:srgbClr val="B8C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176272"/>
            <a:ext cx="1371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E8EEF5"/>
                </a:solidFill>
                <a:latin typeface="Segoe UI"/>
              </a:rPr>
              <a:t>Cloud /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011680"/>
            <a:ext cx="1463040" cy="640080"/>
          </a:xfrm>
          <a:prstGeom prst="roundRect">
            <a:avLst>
              <a:gd name="adj" fmla="val 10000"/>
            </a:avLst>
          </a:prstGeom>
          <a:solidFill>
            <a:srgbClr val="6C2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103120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Border
Router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38160" y="2331720"/>
            <a:ext cx="457200" cy="0"/>
          </a:xfrm>
          <a:prstGeom prst="bentConnector3">
            <a:avLst/>
          </a:prstGeom>
          <a:ln w="254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63840" y="2651760"/>
            <a:ext cx="2286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Wi-Fi / Ethernet (IPv6)</a:t>
            </a:r>
          </a:p>
        </p:txBody>
      </p:sp>
      <p:sp>
        <p:nvSpPr>
          <p:cNvPr id="20" name="Oval 19"/>
          <p:cNvSpPr/>
          <p:nvPr/>
        </p:nvSpPr>
        <p:spPr>
          <a:xfrm>
            <a:off x="7114032" y="3639312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11311" y="4005072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08592" y="3547871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77072" y="3090672"/>
            <a:ext cx="402336" cy="402336"/>
          </a:xfrm>
          <a:prstGeom prst="ellipse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40111" y="4096512"/>
            <a:ext cx="402336" cy="402336"/>
          </a:xfrm>
          <a:prstGeom prst="ellipse">
            <a:avLst/>
          </a:prstGeom>
          <a:solidFill>
            <a:srgbClr val="00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315200" y="3840480"/>
            <a:ext cx="1097280" cy="365760"/>
          </a:xfrm>
          <a:prstGeom prst="bentConnector3">
            <a:avLst/>
          </a:prstGeom>
          <a:ln w="19050">
            <a:solidFill>
              <a:srgbClr val="8E4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315200" y="3749039"/>
            <a:ext cx="2194560" cy="91441"/>
          </a:xfrm>
          <a:prstGeom prst="bentConnector3">
            <a:avLst/>
          </a:prstGeom>
          <a:ln w="19050">
            <a:solidFill>
              <a:srgbClr val="8E4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315200" y="3291840"/>
            <a:ext cx="1463040" cy="548640"/>
          </a:xfrm>
          <a:prstGeom prst="bentConnector3">
            <a:avLst/>
          </a:prstGeom>
          <a:ln w="19050">
            <a:solidFill>
              <a:srgbClr val="8E4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0" y="3840480"/>
            <a:ext cx="2926080" cy="457200"/>
          </a:xfrm>
          <a:prstGeom prst="bentConnector3">
            <a:avLst/>
          </a:prstGeom>
          <a:ln w="19050">
            <a:solidFill>
              <a:srgbClr val="8E4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2480" y="3749039"/>
            <a:ext cx="1097280" cy="457201"/>
          </a:xfrm>
          <a:prstGeom prst="bentConnector3">
            <a:avLst/>
          </a:prstGeom>
          <a:ln w="19050">
            <a:solidFill>
              <a:srgbClr val="8E4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12480" y="3291840"/>
            <a:ext cx="365760" cy="914400"/>
          </a:xfrm>
          <a:prstGeom prst="bentConnector3">
            <a:avLst/>
          </a:prstGeom>
          <a:ln w="19050">
            <a:solidFill>
              <a:srgbClr val="8E4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12480" y="4206240"/>
            <a:ext cx="1828800" cy="91440"/>
          </a:xfrm>
          <a:prstGeom prst="bentConnector3">
            <a:avLst/>
          </a:prstGeom>
          <a:ln w="19050">
            <a:solidFill>
              <a:srgbClr val="8E4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8778240" y="3291840"/>
            <a:ext cx="731520" cy="457199"/>
          </a:xfrm>
          <a:prstGeom prst="bentConnector3">
            <a:avLst/>
          </a:prstGeom>
          <a:ln w="19050">
            <a:solidFill>
              <a:srgbClr val="8E4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509760" y="3749039"/>
            <a:ext cx="731520" cy="548641"/>
          </a:xfrm>
          <a:prstGeom prst="bentConnector3">
            <a:avLst/>
          </a:prstGeom>
          <a:ln w="19050">
            <a:solidFill>
              <a:srgbClr val="8E4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778240" y="3291840"/>
            <a:ext cx="1463040" cy="1005840"/>
          </a:xfrm>
          <a:prstGeom prst="bentConnector3">
            <a:avLst/>
          </a:prstGeom>
          <a:ln w="19050">
            <a:solidFill>
              <a:srgbClr val="8E4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778240" y="2651760"/>
            <a:ext cx="548640" cy="640080"/>
          </a:xfrm>
          <a:prstGeom prst="bentConnector3">
            <a:avLst/>
          </a:prstGeom>
          <a:ln w="19050">
            <a:solidFill>
              <a:srgbClr val="8E44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66560" y="4709160"/>
            <a:ext cx="46634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EEF5"/>
                </a:solidFill>
                <a:latin typeface="Segoe UI"/>
              </a:rPr>
              <a:t>Because the Border Router speaks IPv6 both sides, your phone app addresses a Thread bulb like any internet host — no protocol translation gateway.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Thread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Secure by default, at multiple layers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Network-wide MAC security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All 802.15.4 frames encrypted + authenticated with AES-128-CCM using the network key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Application/transport security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DTLS secures commissioning and app messaging (CoAP over UDP)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Onboarding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J-PAKE password-authenticated key exchange — device proves it knows the passphrase without sending it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Only authenticated devices ever receive the network credentials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Operational hardening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Key rotation supported; no device can join without the commissioning secret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Mesh-local addressing keeps internal traffic off the global internet by default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8E44C4"/>
                </a:solidFill>
                <a:latin typeface="Segoe UI"/>
              </a:rPr>
              <a:t>▸ Result: Thread was designed 'secure-first' — every joined node is authenticated and every frame is encrypted.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Thread Capability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IP-native strengths and design trade-offs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Networking capabilities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Native IPv6 end-to-end addressing per node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6LoWPAN compression + fragmentation for constrained 802.15.4 frames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Self-healing role-based mesh (Leader/Router/REED/End Device)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Platform capabilities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Multiple Border Routers for redundancy and failover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No single coordinator bottleneck in steady-state operation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Application capabilities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Ideal transport for Matter with standard IP tooling and telemetry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Security capabilities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Secure commissioning + authenticated membership by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371600"/>
            <a:ext cx="5120640" cy="461772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8E4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8132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E44C4"/>
                </a:solidFill>
                <a:latin typeface="Segoe UI"/>
              </a:rPr>
              <a:t>Product-fit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Best fit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Future-facing smart-home products targeting Matter ecosystems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Products needing IP-native operations and cloud/app observability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▸ Watch-outs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Border Router quality and placement strongly affect onboarding UX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Still needs careful channel planning in crowded 2.4 GHz spaces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2A62E"/>
                </a:solidFill>
                <a:latin typeface="Segoe UI"/>
              </a:rPr>
              <a:t>▸ Forward strategy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E8EEF5"/>
                </a:solidFill>
                <a:latin typeface="Segoe UI"/>
              </a:rPr>
              <a:t>• Use multiprotocol SoCs: BLE for commissioning + Thread for mesh data plane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57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 i="0">
                <a:solidFill>
                  <a:srgbClr val="27AE60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60704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Compare · Matter · Market ·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6070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E8EEF5"/>
                </a:solidFill>
                <a:latin typeface="Segoe UI"/>
              </a:rPr>
              <a:t>Putting it all together for product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Zigbee vs Thread vs Bluetooth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The decision matrix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25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280160"/>
          <a:ext cx="11430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108960"/>
                <a:gridCol w="3108960"/>
                <a:gridCol w="2926080"/>
              </a:tblGrid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Zigbee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Thread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Bluetooth Mesh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Radio / MAC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802.15.4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9C2F0"/>
                          </a:solidFill>
                          <a:latin typeface="Segoe UI"/>
                        </a:rPr>
                        <a:t>802.15.4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BLE (2.4 GHz)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Network layer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Zigbee NWK (proprietary)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9C2F0"/>
                          </a:solidFill>
                          <a:latin typeface="Segoe UI"/>
                        </a:rPr>
                        <a:t>Native IPv6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Managed-flood (no routing tables)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IP-addressable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No (needs gateway)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9C2F0"/>
                          </a:solidFill>
                          <a:latin typeface="Segoe UI"/>
                        </a:rPr>
                        <a:t>Yes (per node)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App layer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ZCL clusters (built-in)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9C2F0"/>
                          </a:solidFill>
                          <a:latin typeface="Segoe UI"/>
                        </a:rPr>
                        <a:t>Separate (Matter/CoAP)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BT Mesh models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Hub needed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Yes (coordinator/gateway)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9C2F0"/>
                          </a:solidFill>
                          <a:latin typeface="Segoe UI"/>
                        </a:rPr>
                        <a:t>Border Router (IP bridge)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Provisioner; phone-friendly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Interop story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Zigbee 3.0 certified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9C2F0"/>
                          </a:solidFill>
                          <a:latin typeface="Segoe UI"/>
                        </a:rPr>
                        <a:t>Matter over Thread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Mesh models / Matter (emerging)</a:t>
                      </a:r>
                    </a:p>
                  </a:txBody>
                  <a:tcPr anchor="ctr">
                    <a:solidFill>
                      <a:srgbClr val="13305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Best for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Mature sensor/control mesh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9C2F0"/>
                          </a:solidFill>
                          <a:latin typeface="Segoe UI"/>
                        </a:rPr>
                        <a:t>Future-proof IP smart home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EF5"/>
                          </a:solidFill>
                          <a:latin typeface="Segoe UI"/>
                        </a:rPr>
                        <a:t>Phone-provisioned, lighting</a:t>
                      </a:r>
                    </a:p>
                  </a:txBody>
                  <a:tcPr anchor="ctr">
                    <a:solidFill>
                      <a:srgbClr val="17335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Matter — Why It Changes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The common application layer that rides on Thread (and Wi-Fi)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What Matter is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An application-layer standard (CSA) for smart-home interoperability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Runs OVER Thread or Wi-Fi (and uses BLE only for commissioning)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Why it matters for you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Separates 'app language' from 'transport' — Thread carries IP; Matter defines device types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Backed by Apple, Google, Amazon, Samsung → cross-ecosystem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Matter data model echoes Zigbee's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Nodes → Endpoints → Clusters → Attributes/Commands (familiar!)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In fact ZCL heavily influenced Matter's data model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F2A62E"/>
                </a:solidFill>
                <a:latin typeface="Segoe UI"/>
              </a:rPr>
              <a:t>▸ Zigbee's clusters concept lives on inside Matter — your Zigbee knowledge transfers directly.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17320"/>
            <a:ext cx="5120640" cy="4572000"/>
          </a:xfrm>
          <a:prstGeom prst="roundRect">
            <a:avLst>
              <a:gd name="adj" fmla="val 4000"/>
            </a:avLst>
          </a:prstGeom>
          <a:solidFill>
            <a:srgbClr val="173359"/>
          </a:solidFill>
          <a:ln w="12700">
            <a:solidFill>
              <a:srgbClr val="F2A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527048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A62E"/>
                </a:solidFill>
                <a:latin typeface="Segoe UI"/>
              </a:rPr>
              <a:t>Where each layer sits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011680"/>
            <a:ext cx="4709160" cy="685800"/>
          </a:xfrm>
          <a:prstGeom prst="roundRect">
            <a:avLst>
              <a:gd name="adj" fmla="val 6000"/>
            </a:avLst>
          </a:prstGeom>
          <a:solidFill>
            <a:srgbClr val="F2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157984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Matter (device types, clusters)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834640"/>
            <a:ext cx="4709160" cy="685800"/>
          </a:xfrm>
          <a:prstGeom prst="roundRect">
            <a:avLst>
              <a:gd name="adj" fmla="val 6000"/>
            </a:avLst>
          </a:prstGeom>
          <a:solidFill>
            <a:srgbClr val="8E4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980944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Thread  OR  Wi-Fi (transport)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657600"/>
            <a:ext cx="4709160" cy="685800"/>
          </a:xfrm>
          <a:prstGeom prst="roundRect">
            <a:avLst>
              <a:gd name="adj" fmla="val 6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803904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802.15.4 / IPv6   |   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480560"/>
            <a:ext cx="4709160" cy="685800"/>
          </a:xfrm>
          <a:prstGeom prst="roundRect">
            <a:avLst>
              <a:gd name="adj" fmla="val 6000"/>
            </a:avLst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4626864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Radio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440680"/>
            <a:ext cx="47548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C4D4"/>
                </a:solidFill>
                <a:latin typeface="Segoe UI"/>
              </a:rPr>
              <a:t>BLE is used only to commission a Matter device onto Thread/Wi-Fi.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Products In The Market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Where you'll actually meet these stacks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5486400" cy="4480560"/>
          </a:xfrm>
          <a:prstGeom prst="roundRect">
            <a:avLst>
              <a:gd name="adj" fmla="val 3000"/>
            </a:avLst>
          </a:prstGeom>
          <a:solidFill>
            <a:srgbClr val="173359"/>
          </a:solidFill>
          <a:ln w="12700">
            <a:solidFill>
              <a:srgbClr val="EB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EB1C24"/>
                </a:solidFill>
                <a:latin typeface="Segoe UI"/>
              </a:rPr>
              <a:t>▸ Zigbee — shipping at huge scale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Philips Hue lighting (bridge + bulbs)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IKEA TRÅDFRI / DIRIGERA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Samsung SmartThings hub &amp; sensors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Amazon Echo (4th gen) built-in Zigbee hub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Aqara, Sonoff, Tuya sensors &amp; switches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Industrial: metering, building automation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486400" cy="4480560"/>
          </a:xfrm>
          <a:prstGeom prst="roundRect">
            <a:avLst>
              <a:gd name="adj" fmla="val 3000"/>
            </a:avLst>
          </a:prstGeom>
          <a:solidFill>
            <a:srgbClr val="173359"/>
          </a:solidFill>
          <a:ln w="12700">
            <a:solidFill>
              <a:srgbClr val="8E4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8E44C4"/>
                </a:solidFill>
                <a:latin typeface="Segoe UI"/>
              </a:rPr>
              <a:t>▸ Thread — rapidly expanding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Apple HomePod mini / HomePod (Border Router)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Google Nest Hub (2nd gen), Nest Wifi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Amazon Eero routers (Border Router)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Nanoleaf, Eve, Wemo Thread devices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Matter-over-Thread bulbs, plugs, sensors</a:t>
            </a:r>
          </a:p>
          <a:p>
            <a:pPr lvl="1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Nordic / Silicon Labs / TI SoCs inside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8932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2A62E"/>
                </a:solidFill>
                <a:latin typeface="Segoe UI"/>
              </a:rPr>
              <a:t>Silicon reality: many modern SoCs are multiprotocol — the SAME chip can run Zigbee, Thread and BLE, chosen in firmware.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Where This Is Heading (Future)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What to expect over the next few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8E44C4"/>
                </a:solidFill>
                <a:latin typeface="Segoe UI"/>
              </a:rPr>
              <a:t>▸ Thread + Matter become the default for new smart-home products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IP-native, multi-admin (one device, many ecosystems), no proprietary hub lock-in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EB1C24"/>
                </a:solidFill>
                <a:latin typeface="Segoe UI"/>
              </a:rPr>
              <a:t>▸ Zigbee keeps a massive installed base and low-cost advantage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Continues in lighting, retail, industrial; bridges expose Zigbee devices into Matter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Convergence via multiprotocol silicon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One SoC runs Thread + Zigbee + BLE; OTA can even switch protocols in the field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▸ Thread 1.3+ and beyond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Native Matter support, better Border Router roaming, larger/credentialed networks, improved reliability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0082FC"/>
                </a:solidFill>
                <a:latin typeface="Segoe UI"/>
              </a:rPr>
              <a:t>▸ Bluetooth stays complementary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400" b="0">
                <a:solidFill>
                  <a:srgbClr val="E8EEF5"/>
                </a:solidFill>
                <a:latin typeface="Segoe UI"/>
              </a:rPr>
              <a:t>• BLE for commissioning + phone proximity; Thread/Zigbee for the always-on mesh backbone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2A62E"/>
                </a:solidFill>
                <a:latin typeface="Segoe UI"/>
              </a:rPr>
              <a:t>▸ Product strategy takeaway: build on multiprotocol SoCs, ship Matter-over-Thread, keep a Zigbee bridge path for legacy.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One-Page Cheat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Fast recall for technical discussions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5577840" cy="4572000"/>
          </a:xfrm>
          <a:prstGeom prst="roundRect">
            <a:avLst>
              <a:gd name="adj" fmla="val 3000"/>
            </a:avLst>
          </a:prstGeom>
          <a:solidFill>
            <a:srgbClr val="17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802.15.4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PHY+MAC, 2.4 GHz, 250 kbps, 127-byte frames, mesh-capable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FFD / RFD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Full-function (can route) vs reduced-function (leaf/sleepy)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PAN ID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16-bit network identifier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Zigbee roles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Coordinator / Router / End Device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Cluster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Feature module: attributes (state) + commands (actions)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Binding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Direct client→server link (switch→bulb)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532120" cy="4572000"/>
          </a:xfrm>
          <a:prstGeom prst="roundRect">
            <a:avLst>
              <a:gd name="adj" fmla="val 3000"/>
            </a:avLst>
          </a:prstGeom>
          <a:solidFill>
            <a:srgbClr val="17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Thread roles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Leader / Router / REED / End Device / Border Router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Border Router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Bridges Thread ↔ Wi-Fi/Ethernet at IP level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6LoWPAN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Compresses IPv6 into 802.15.4 frames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MLE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Mesh Link Establishment — maintains Thread routes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Matter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App layer over Thread/Wi-Fi; clusters like Zigbee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▸ Security</a:t>
            </a:r>
          </a:p>
          <a:p>
            <a:pPr lvl="1">
              <a:lnSpc>
                <a:spcPct val="105000"/>
              </a:lnSpc>
              <a:spcAft>
                <a:spcPts val="500"/>
              </a:spcAft>
            </a:pPr>
            <a:r>
              <a:rPr sz="1250" b="0">
                <a:solidFill>
                  <a:srgbClr val="E8EEF5"/>
                </a:solidFill>
                <a:latin typeface="Segoe UI"/>
              </a:rPr>
              <a:t>• AES-128-CCM* everywhere; DTLS/J-PAKE onboarding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References &amp;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713232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C4D4"/>
                </a:solidFill>
                <a:latin typeface="Segoe UI"/>
              </a:rPr>
              <a:t>Sources consulted to build this deck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25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D4"/>
                </a:solidFill>
                <a:latin typeface="Segoe UI"/>
              </a:rPr>
              <a:t>802.15.4 · Zigbee · Thread — Technical Masterclass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8C4D4"/>
                </a:solidFill>
                <a:latin typeface="Segoe UI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5623560" cy="4937760"/>
          </a:xfrm>
          <a:prstGeom prst="roundRect">
            <a:avLst>
              <a:gd name="adj" fmla="val 2000"/>
            </a:avLst>
          </a:prstGeom>
          <a:solidFill>
            <a:srgbClr val="17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486400" cy="4937760"/>
          </a:xfrm>
          <a:prstGeom prst="roundRect">
            <a:avLst>
              <a:gd name="adj" fmla="val 2000"/>
            </a:avLst>
          </a:prstGeom>
          <a:solidFill>
            <a:srgbClr val="17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63040"/>
            <a:ext cx="5257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IEEE 802.15.4-2020 standard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2"/>
              </a:rPr>
              <a:t>https://standards.ieee.org/ieee/802.15.4/7029/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Connectivity Standards Alliance (Zigbee)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3"/>
              </a:rPr>
              <a:t>https://csa-iot.org/all-solutions/zigbee/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Zigbee Specification / Zigbee 3.0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4"/>
              </a:rPr>
              <a:t>https://csa-iot.org/developer-resource/specifications-download-request/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Thread Group — Thread technology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5"/>
              </a:rPr>
              <a:t>https://www.threadgroup.org/What-is-Thread/Overview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Thread Specification &amp; Fundamentals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6"/>
              </a:rPr>
              <a:t>https://www.threadgroup.org/support#specifications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Matter (CSA) overview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7"/>
              </a:rPr>
              <a:t>https://csa-iot.org/all-solutions/matter/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OpenThread (Google) documentation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8"/>
              </a:rPr>
              <a:t>https://openthread.io/guides/thread-primer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RFC 4944 — IPv6 over 802.15.4 (6LoWPAN)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9"/>
              </a:rPr>
              <a:t>https://www.rfc-editor.org/rfc/rfc4944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463040"/>
            <a:ext cx="52578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RFC 6282 — 6LoWPAN header compression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10"/>
              </a:rPr>
              <a:t>https://www.rfc-editor.org/rfc/rfc6282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RFC 6550 — RPL routing (context)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11"/>
              </a:rPr>
              <a:t>https://www.rfc-editor.org/rfc/rfc6550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Silicon Labs — Zigbee &amp; Thread fundamentals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12"/>
              </a:rPr>
              <a:t>https://www.silabs.com/wireless/zigbee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Nordic Semiconductor — Thread &amp; Matter docs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13"/>
              </a:rPr>
              <a:t>https://developer.nordicsemi.com/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Texas Instruments — 802.15.4 SimpleLink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14"/>
              </a:rPr>
              <a:t>https://www.ti.com/wireless-connectivity/thread/overview.html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Espressif — Thread/Zigbee/Matter guides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15"/>
              </a:rPr>
              <a:t>https://docs.espressif.com/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Zigbee Cluster Library (ZCL) spec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4"/>
              </a:rPr>
              <a:t>https://csa-iot.org/developer-resource/specifications-download-request/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Wikipedia — Zigbee / Thread / 802.15.4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D9CDB"/>
                </a:solidFill>
                <a:latin typeface="Consolas"/>
                <a:hlinkClick r:id="rId16"/>
              </a:rPr>
              <a:t>https://en.wikipedia.org/wiki/Zigbee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08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You're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8EEF5"/>
                </a:solidFill>
                <a:latin typeface="Segoe UI"/>
              </a:rPr>
              <a:t>802.15.4 gives the radio &amp; link · Zigbee adds mesh + a rich device language · Thread adds IPv6 · Matter unifies the app layer. You can now follow the discussion, define products, and read the market.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B8C4D4"/>
                </a:solidFill>
                <a:latin typeface="Segoe UI"/>
              </a:rPr>
              <a:t>Next step: skim the References slide, then pick one SoC vendor SDK and build a hello-world node.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